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tel Real Rex" userId="81476aebc8c1c12e" providerId="LiveId" clId="{F82E0FB5-C4C9-43E8-8C07-B8CBF2459AA2}"/>
    <pc:docChg chg="custSel modSld">
      <pc:chgData name="Hotel Real Rex" userId="81476aebc8c1c12e" providerId="LiveId" clId="{F82E0FB5-C4C9-43E8-8C07-B8CBF2459AA2}" dt="2026-09-08T04:19:53.352" v="52" actId="1076"/>
      <pc:docMkLst>
        <pc:docMk/>
      </pc:docMkLst>
      <pc:sldChg chg="addSp delSp modSp mod">
        <pc:chgData name="Hotel Real Rex" userId="81476aebc8c1c12e" providerId="LiveId" clId="{F82E0FB5-C4C9-43E8-8C07-B8CBF2459AA2}" dt="2026-09-08T04:17:33.448" v="30" actId="478"/>
        <pc:sldMkLst>
          <pc:docMk/>
          <pc:sldMk cId="0" sldId="256"/>
        </pc:sldMkLst>
        <pc:spChg chg="mod">
          <ac:chgData name="Hotel Real Rex" userId="81476aebc8c1c12e" providerId="LiveId" clId="{F82E0FB5-C4C9-43E8-8C07-B8CBF2459AA2}" dt="2026-09-08T04:16:09.471" v="16" actId="1035"/>
          <ac:spMkLst>
            <pc:docMk/>
            <pc:sldMk cId="0" sldId="256"/>
            <ac:spMk id="4" creationId="{00000000-0000-0000-0000-000000000000}"/>
          </ac:spMkLst>
        </pc:spChg>
        <pc:spChg chg="del">
          <ac:chgData name="Hotel Real Rex" userId="81476aebc8c1c12e" providerId="LiveId" clId="{F82E0FB5-C4C9-43E8-8C07-B8CBF2459AA2}" dt="2026-09-08T04:16:27.116" v="21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Hotel Real Rex" userId="81476aebc8c1c12e" providerId="LiveId" clId="{F82E0FB5-C4C9-43E8-8C07-B8CBF2459AA2}" dt="2026-09-08T04:16:31.193" v="23" actId="113"/>
          <ac:spMkLst>
            <pc:docMk/>
            <pc:sldMk cId="0" sldId="256"/>
            <ac:spMk id="8" creationId="{00000000-0000-0000-0000-000000000000}"/>
          </ac:spMkLst>
        </pc:spChg>
        <pc:spChg chg="del">
          <ac:chgData name="Hotel Real Rex" userId="81476aebc8c1c12e" providerId="LiveId" clId="{F82E0FB5-C4C9-43E8-8C07-B8CBF2459AA2}" dt="2026-09-08T04:16:17.277" v="18" actId="478"/>
          <ac:spMkLst>
            <pc:docMk/>
            <pc:sldMk cId="0" sldId="256"/>
            <ac:spMk id="9" creationId="{00000000-0000-0000-0000-000000000000}"/>
          </ac:spMkLst>
        </pc:spChg>
        <pc:picChg chg="del">
          <ac:chgData name="Hotel Real Rex" userId="81476aebc8c1c12e" providerId="LiveId" clId="{F82E0FB5-C4C9-43E8-8C07-B8CBF2459AA2}" dt="2026-09-08T04:17:33.448" v="30" actId="478"/>
          <ac:picMkLst>
            <pc:docMk/>
            <pc:sldMk cId="0" sldId="256"/>
            <ac:picMk id="2" creationId="{00000000-0000-0000-0000-000000000000}"/>
          </ac:picMkLst>
        </pc:picChg>
        <pc:picChg chg="mod">
          <ac:chgData name="Hotel Real Rex" userId="81476aebc8c1c12e" providerId="LiveId" clId="{F82E0FB5-C4C9-43E8-8C07-B8CBF2459AA2}" dt="2026-09-08T04:16:14.386" v="17" actId="14100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Hotel Real Rex" userId="81476aebc8c1c12e" providerId="LiveId" clId="{F82E0FB5-C4C9-43E8-8C07-B8CBF2459AA2}" dt="2026-09-08T04:17:03.699" v="26" actId="1076"/>
          <ac:picMkLst>
            <pc:docMk/>
            <pc:sldMk cId="0" sldId="256"/>
            <ac:picMk id="11" creationId="{A85A53D8-C505-EB1A-A074-40E95DB10ECD}"/>
          </ac:picMkLst>
        </pc:picChg>
      </pc:sldChg>
      <pc:sldChg chg="delSp mod">
        <pc:chgData name="Hotel Real Rex" userId="81476aebc8c1c12e" providerId="LiveId" clId="{F82E0FB5-C4C9-43E8-8C07-B8CBF2459AA2}" dt="2026-09-08T04:17:30.552" v="29" actId="478"/>
        <pc:sldMkLst>
          <pc:docMk/>
          <pc:sldMk cId="0" sldId="257"/>
        </pc:sldMkLst>
        <pc:picChg chg="del">
          <ac:chgData name="Hotel Real Rex" userId="81476aebc8c1c12e" providerId="LiveId" clId="{F82E0FB5-C4C9-43E8-8C07-B8CBF2459AA2}" dt="2026-09-08T04:17:30.552" v="29" actId="478"/>
          <ac:picMkLst>
            <pc:docMk/>
            <pc:sldMk cId="0" sldId="257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28.056" v="28" actId="478"/>
        <pc:sldMkLst>
          <pc:docMk/>
          <pc:sldMk cId="0" sldId="258"/>
        </pc:sldMkLst>
        <pc:picChg chg="del">
          <ac:chgData name="Hotel Real Rex" userId="81476aebc8c1c12e" providerId="LiveId" clId="{F82E0FB5-C4C9-43E8-8C07-B8CBF2459AA2}" dt="2026-09-08T04:17:28.056" v="28" actId="478"/>
          <ac:picMkLst>
            <pc:docMk/>
            <pc:sldMk cId="0" sldId="258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25.500" v="27" actId="478"/>
        <pc:sldMkLst>
          <pc:docMk/>
          <pc:sldMk cId="0" sldId="259"/>
        </pc:sldMkLst>
        <pc:picChg chg="del">
          <ac:chgData name="Hotel Real Rex" userId="81476aebc8c1c12e" providerId="LiveId" clId="{F82E0FB5-C4C9-43E8-8C07-B8CBF2459AA2}" dt="2026-09-08T04:17:25.500" v="27" actId="478"/>
          <ac:picMkLst>
            <pc:docMk/>
            <pc:sldMk cId="0" sldId="259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39.304" v="31" actId="478"/>
        <pc:sldMkLst>
          <pc:docMk/>
          <pc:sldMk cId="0" sldId="260"/>
        </pc:sldMkLst>
        <pc:picChg chg="del">
          <ac:chgData name="Hotel Real Rex" userId="81476aebc8c1c12e" providerId="LiveId" clId="{F82E0FB5-C4C9-43E8-8C07-B8CBF2459AA2}" dt="2026-09-08T04:17:39.304" v="31" actId="478"/>
          <ac:picMkLst>
            <pc:docMk/>
            <pc:sldMk cId="0" sldId="260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43.131" v="32" actId="478"/>
        <pc:sldMkLst>
          <pc:docMk/>
          <pc:sldMk cId="0" sldId="261"/>
        </pc:sldMkLst>
        <pc:picChg chg="del">
          <ac:chgData name="Hotel Real Rex" userId="81476aebc8c1c12e" providerId="LiveId" clId="{F82E0FB5-C4C9-43E8-8C07-B8CBF2459AA2}" dt="2026-09-08T04:17:43.131" v="32" actId="478"/>
          <ac:picMkLst>
            <pc:docMk/>
            <pc:sldMk cId="0" sldId="261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45.419" v="33" actId="478"/>
        <pc:sldMkLst>
          <pc:docMk/>
          <pc:sldMk cId="0" sldId="262"/>
        </pc:sldMkLst>
        <pc:picChg chg="del">
          <ac:chgData name="Hotel Real Rex" userId="81476aebc8c1c12e" providerId="LiveId" clId="{F82E0FB5-C4C9-43E8-8C07-B8CBF2459AA2}" dt="2026-09-08T04:17:45.419" v="33" actId="478"/>
          <ac:picMkLst>
            <pc:docMk/>
            <pc:sldMk cId="0" sldId="262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48.475" v="34" actId="478"/>
        <pc:sldMkLst>
          <pc:docMk/>
          <pc:sldMk cId="0" sldId="263"/>
        </pc:sldMkLst>
        <pc:picChg chg="del">
          <ac:chgData name="Hotel Real Rex" userId="81476aebc8c1c12e" providerId="LiveId" clId="{F82E0FB5-C4C9-43E8-8C07-B8CBF2459AA2}" dt="2026-09-08T04:17:48.475" v="34" actId="478"/>
          <ac:picMkLst>
            <pc:docMk/>
            <pc:sldMk cId="0" sldId="263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50.084" v="35" actId="478"/>
        <pc:sldMkLst>
          <pc:docMk/>
          <pc:sldMk cId="0" sldId="264"/>
        </pc:sldMkLst>
        <pc:picChg chg="del">
          <ac:chgData name="Hotel Real Rex" userId="81476aebc8c1c12e" providerId="LiveId" clId="{F82E0FB5-C4C9-43E8-8C07-B8CBF2459AA2}" dt="2026-09-08T04:17:50.084" v="35" actId="478"/>
          <ac:picMkLst>
            <pc:docMk/>
            <pc:sldMk cId="0" sldId="264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51.883" v="36" actId="478"/>
        <pc:sldMkLst>
          <pc:docMk/>
          <pc:sldMk cId="0" sldId="265"/>
        </pc:sldMkLst>
        <pc:picChg chg="del">
          <ac:chgData name="Hotel Real Rex" userId="81476aebc8c1c12e" providerId="LiveId" clId="{F82E0FB5-C4C9-43E8-8C07-B8CBF2459AA2}" dt="2026-09-08T04:17:51.883" v="36" actId="478"/>
          <ac:picMkLst>
            <pc:docMk/>
            <pc:sldMk cId="0" sldId="265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54.575" v="37" actId="478"/>
        <pc:sldMkLst>
          <pc:docMk/>
          <pc:sldMk cId="0" sldId="266"/>
        </pc:sldMkLst>
        <pc:picChg chg="del">
          <ac:chgData name="Hotel Real Rex" userId="81476aebc8c1c12e" providerId="LiveId" clId="{F82E0FB5-C4C9-43E8-8C07-B8CBF2459AA2}" dt="2026-09-08T04:17:54.575" v="37" actId="478"/>
          <ac:picMkLst>
            <pc:docMk/>
            <pc:sldMk cId="0" sldId="266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57.032" v="38" actId="478"/>
        <pc:sldMkLst>
          <pc:docMk/>
          <pc:sldMk cId="0" sldId="267"/>
        </pc:sldMkLst>
        <pc:picChg chg="del">
          <ac:chgData name="Hotel Real Rex" userId="81476aebc8c1c12e" providerId="LiveId" clId="{F82E0FB5-C4C9-43E8-8C07-B8CBF2459AA2}" dt="2026-09-08T04:17:57.032" v="38" actId="478"/>
          <ac:picMkLst>
            <pc:docMk/>
            <pc:sldMk cId="0" sldId="267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7:58.896" v="39" actId="478"/>
        <pc:sldMkLst>
          <pc:docMk/>
          <pc:sldMk cId="0" sldId="268"/>
        </pc:sldMkLst>
        <pc:picChg chg="del">
          <ac:chgData name="Hotel Real Rex" userId="81476aebc8c1c12e" providerId="LiveId" clId="{F82E0FB5-C4C9-43E8-8C07-B8CBF2459AA2}" dt="2026-09-08T04:17:58.896" v="39" actId="478"/>
          <ac:picMkLst>
            <pc:docMk/>
            <pc:sldMk cId="0" sldId="268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8:00.720" v="40" actId="478"/>
        <pc:sldMkLst>
          <pc:docMk/>
          <pc:sldMk cId="0" sldId="269"/>
        </pc:sldMkLst>
        <pc:picChg chg="del">
          <ac:chgData name="Hotel Real Rex" userId="81476aebc8c1c12e" providerId="LiveId" clId="{F82E0FB5-C4C9-43E8-8C07-B8CBF2459AA2}" dt="2026-09-08T04:18:00.720" v="40" actId="478"/>
          <ac:picMkLst>
            <pc:docMk/>
            <pc:sldMk cId="0" sldId="269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8:02.095" v="41" actId="478"/>
        <pc:sldMkLst>
          <pc:docMk/>
          <pc:sldMk cId="0" sldId="270"/>
        </pc:sldMkLst>
        <pc:picChg chg="del">
          <ac:chgData name="Hotel Real Rex" userId="81476aebc8c1c12e" providerId="LiveId" clId="{F82E0FB5-C4C9-43E8-8C07-B8CBF2459AA2}" dt="2026-09-08T04:18:02.095" v="41" actId="478"/>
          <ac:picMkLst>
            <pc:docMk/>
            <pc:sldMk cId="0" sldId="270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8:03.752" v="42" actId="478"/>
        <pc:sldMkLst>
          <pc:docMk/>
          <pc:sldMk cId="0" sldId="271"/>
        </pc:sldMkLst>
        <pc:picChg chg="del">
          <ac:chgData name="Hotel Real Rex" userId="81476aebc8c1c12e" providerId="LiveId" clId="{F82E0FB5-C4C9-43E8-8C07-B8CBF2459AA2}" dt="2026-09-08T04:18:03.752" v="42" actId="478"/>
          <ac:picMkLst>
            <pc:docMk/>
            <pc:sldMk cId="0" sldId="271"/>
            <ac:picMk id="2" creationId="{00000000-0000-0000-0000-000000000000}"/>
          </ac:picMkLst>
        </pc:picChg>
      </pc:sldChg>
      <pc:sldChg chg="delSp modSp mod">
        <pc:chgData name="Hotel Real Rex" userId="81476aebc8c1c12e" providerId="LiveId" clId="{F82E0FB5-C4C9-43E8-8C07-B8CBF2459AA2}" dt="2026-09-08T04:19:46.150" v="51" actId="1076"/>
        <pc:sldMkLst>
          <pc:docMk/>
          <pc:sldMk cId="0" sldId="272"/>
        </pc:sldMkLst>
        <pc:spChg chg="mod">
          <ac:chgData name="Hotel Real Rex" userId="81476aebc8c1c12e" providerId="LiveId" clId="{F82E0FB5-C4C9-43E8-8C07-B8CBF2459AA2}" dt="2026-09-08T04:19:46.150" v="51" actId="1076"/>
          <ac:spMkLst>
            <pc:docMk/>
            <pc:sldMk cId="0" sldId="272"/>
            <ac:spMk id="6" creationId="{00000000-0000-0000-0000-000000000000}"/>
          </ac:spMkLst>
        </pc:spChg>
        <pc:picChg chg="del">
          <ac:chgData name="Hotel Real Rex" userId="81476aebc8c1c12e" providerId="LiveId" clId="{F82E0FB5-C4C9-43E8-8C07-B8CBF2459AA2}" dt="2026-09-08T04:18:06.704" v="43" actId="478"/>
          <ac:picMkLst>
            <pc:docMk/>
            <pc:sldMk cId="0" sldId="272"/>
            <ac:picMk id="2" creationId="{00000000-0000-0000-0000-000000000000}"/>
          </ac:picMkLst>
        </pc:picChg>
      </pc:sldChg>
      <pc:sldChg chg="delSp modSp mod">
        <pc:chgData name="Hotel Real Rex" userId="81476aebc8c1c12e" providerId="LiveId" clId="{F82E0FB5-C4C9-43E8-8C07-B8CBF2459AA2}" dt="2026-09-08T04:19:53.352" v="52" actId="1076"/>
        <pc:sldMkLst>
          <pc:docMk/>
          <pc:sldMk cId="0" sldId="273"/>
        </pc:sldMkLst>
        <pc:spChg chg="mod">
          <ac:chgData name="Hotel Real Rex" userId="81476aebc8c1c12e" providerId="LiveId" clId="{F82E0FB5-C4C9-43E8-8C07-B8CBF2459AA2}" dt="2026-09-08T04:19:53.352" v="52" actId="1076"/>
          <ac:spMkLst>
            <pc:docMk/>
            <pc:sldMk cId="0" sldId="273"/>
            <ac:spMk id="6" creationId="{00000000-0000-0000-0000-000000000000}"/>
          </ac:spMkLst>
        </pc:spChg>
        <pc:picChg chg="del">
          <ac:chgData name="Hotel Real Rex" userId="81476aebc8c1c12e" providerId="LiveId" clId="{F82E0FB5-C4C9-43E8-8C07-B8CBF2459AA2}" dt="2026-09-08T04:18:08.305" v="44" actId="478"/>
          <ac:picMkLst>
            <pc:docMk/>
            <pc:sldMk cId="0" sldId="273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8:09.687" v="45" actId="478"/>
        <pc:sldMkLst>
          <pc:docMk/>
          <pc:sldMk cId="0" sldId="274"/>
        </pc:sldMkLst>
        <pc:picChg chg="del">
          <ac:chgData name="Hotel Real Rex" userId="81476aebc8c1c12e" providerId="LiveId" clId="{F82E0FB5-C4C9-43E8-8C07-B8CBF2459AA2}" dt="2026-09-08T04:18:09.687" v="45" actId="478"/>
          <ac:picMkLst>
            <pc:docMk/>
            <pc:sldMk cId="0" sldId="274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8:11.227" v="46" actId="478"/>
        <pc:sldMkLst>
          <pc:docMk/>
          <pc:sldMk cId="0" sldId="275"/>
        </pc:sldMkLst>
        <pc:picChg chg="del">
          <ac:chgData name="Hotel Real Rex" userId="81476aebc8c1c12e" providerId="LiveId" clId="{F82E0FB5-C4C9-43E8-8C07-B8CBF2459AA2}" dt="2026-09-08T04:18:11.227" v="46" actId="478"/>
          <ac:picMkLst>
            <pc:docMk/>
            <pc:sldMk cId="0" sldId="275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8:12.747" v="47" actId="478"/>
        <pc:sldMkLst>
          <pc:docMk/>
          <pc:sldMk cId="0" sldId="276"/>
        </pc:sldMkLst>
        <pc:picChg chg="del">
          <ac:chgData name="Hotel Real Rex" userId="81476aebc8c1c12e" providerId="LiveId" clId="{F82E0FB5-C4C9-43E8-8C07-B8CBF2459AA2}" dt="2026-09-08T04:18:12.747" v="47" actId="478"/>
          <ac:picMkLst>
            <pc:docMk/>
            <pc:sldMk cId="0" sldId="276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8:14.348" v="48" actId="478"/>
        <pc:sldMkLst>
          <pc:docMk/>
          <pc:sldMk cId="0" sldId="277"/>
        </pc:sldMkLst>
        <pc:picChg chg="del">
          <ac:chgData name="Hotel Real Rex" userId="81476aebc8c1c12e" providerId="LiveId" clId="{F82E0FB5-C4C9-43E8-8C07-B8CBF2459AA2}" dt="2026-09-08T04:18:14.348" v="48" actId="478"/>
          <ac:picMkLst>
            <pc:docMk/>
            <pc:sldMk cId="0" sldId="277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8:16.156" v="49" actId="478"/>
        <pc:sldMkLst>
          <pc:docMk/>
          <pc:sldMk cId="0" sldId="278"/>
        </pc:sldMkLst>
        <pc:picChg chg="del">
          <ac:chgData name="Hotel Real Rex" userId="81476aebc8c1c12e" providerId="LiveId" clId="{F82E0FB5-C4C9-43E8-8C07-B8CBF2459AA2}" dt="2026-09-08T04:18:16.156" v="49" actId="478"/>
          <ac:picMkLst>
            <pc:docMk/>
            <pc:sldMk cId="0" sldId="278"/>
            <ac:picMk id="2" creationId="{00000000-0000-0000-0000-000000000000}"/>
          </ac:picMkLst>
        </pc:picChg>
      </pc:sldChg>
      <pc:sldChg chg="delSp mod">
        <pc:chgData name="Hotel Real Rex" userId="81476aebc8c1c12e" providerId="LiveId" clId="{F82E0FB5-C4C9-43E8-8C07-B8CBF2459AA2}" dt="2026-09-08T04:18:19.484" v="50" actId="478"/>
        <pc:sldMkLst>
          <pc:docMk/>
          <pc:sldMk cId="0" sldId="279"/>
        </pc:sldMkLst>
        <pc:picChg chg="del">
          <ac:chgData name="Hotel Real Rex" userId="81476aebc8c1c12e" providerId="LiveId" clId="{F82E0FB5-C4C9-43E8-8C07-B8CBF2459AA2}" dt="2026-09-08T04:18:19.484" v="50" actId="478"/>
          <ac:picMkLst>
            <pc:docMk/>
            <pc:sldMk cId="0" sldId="279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00069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2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8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2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6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1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3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38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42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388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84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80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15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9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5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0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57.png"/><Relationship Id="rId4" Type="http://schemas.openxmlformats.org/officeDocument/2006/relationships/image" Target="../media/image32.png"/><Relationship Id="rId9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50" y="3980408"/>
            <a:ext cx="8434982" cy="15186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5592" y="1511647"/>
            <a:ext cx="6520815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3600" b="0" i="0" u="none" dirty="0">
                <a:solidFill>
                  <a:srgbClr val="475569"/>
                </a:solidFill>
                <a:latin typeface="Inter"/>
              </a:rPr>
              <a:t>Materia: </a:t>
            </a:r>
            <a:r>
              <a:rPr sz="3600" b="0" i="0" u="none" dirty="0" err="1">
                <a:solidFill>
                  <a:srgbClr val="475569"/>
                </a:solidFill>
                <a:latin typeface="Inter"/>
              </a:rPr>
              <a:t>Ética</a:t>
            </a:r>
            <a:r>
              <a:rPr sz="36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600" b="0" i="0" u="none" dirty="0" err="1">
                <a:solidFill>
                  <a:srgbClr val="475569"/>
                </a:solidFill>
                <a:latin typeface="Inter"/>
              </a:rPr>
              <a:t>Profesional</a:t>
            </a:r>
            <a:endParaRPr sz="36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5592" y="2124967"/>
            <a:ext cx="652081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369A1"/>
                </a:solidFill>
                <a:latin typeface="Merriweather"/>
              </a:rPr>
              <a:t>Actos Humanos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0850" y="3077467"/>
            <a:ext cx="62103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334155"/>
                </a:solidFill>
                <a:latin typeface="Inter Medium"/>
              </a:rPr>
              <a:t>Carreras de Ingenierías y Licenciaturas de la UTL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850" y="4485233"/>
            <a:ext cx="62103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2000" b="1" i="0" u="none" dirty="0">
                <a:solidFill>
                  <a:srgbClr val="334155"/>
                </a:solidFill>
                <a:latin typeface="Inter"/>
              </a:rPr>
              <a:t>Mtro. Gilberto Rosales Martínez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85A53D8-C505-EB1A-A074-40E95DB10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8679" y="0"/>
            <a:ext cx="2003321" cy="20279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524500" y="2527101"/>
            <a:ext cx="11430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463" y="2850951"/>
            <a:ext cx="8591073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0369A1"/>
                </a:solidFill>
                <a:latin typeface="Merriweather"/>
              </a:rPr>
              <a:t>Introducción al Estudio Ético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55826"/>
            <a:ext cx="7620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El pilar fundamental para comprender cómo se construye la responsabilidad ética en las acciones que realizamos diariamente.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66962"/>
            <a:ext cx="5286375" cy="3171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366962"/>
            <a:ext cx="5286375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9391" y="2757487"/>
            <a:ext cx="4730591" cy="34290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Merriweather"/>
              </a:rPr>
              <a:t>Actos Humanos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243262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Involucran una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deliberación consciente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y una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voluntad libre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043362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Son el centro del estudio ético, ya que en ellos recae la responsabilidad y la capacidad de elección del individuo.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2016" y="2757487"/>
            <a:ext cx="4730591" cy="342900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Merriweather"/>
              </a:rPr>
              <a:t>Actos del Hombre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243262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Se refieren a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acciones automáticas o reflejas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3738562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Carecen de intencionalidad moral, pues suceden sin la intervención de la razón y la voluntad deliberada.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012" y="2795587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2795587"/>
            <a:ext cx="2381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Diferencia Fundamental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52650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El ser humano es de naturaleza intelectual y espiritual, poseedor de libertad de acción y autogobierno.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648200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Conclusión ética: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Al ser dueño de sí mismo, nunca podrá pertenecer a otro ni ser tratado como esclavo o un simple objeto.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952750"/>
            <a:ext cx="5000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Es capaz de acceder a su interioridad.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400425"/>
            <a:ext cx="5000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Busca y obtiene el bien.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48100"/>
            <a:ext cx="5000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Es el ser más valioso de entre los que habitan el mundo.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2895600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343275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790950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Dignidad Humana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81175" y="2251769"/>
            <a:ext cx="862965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3000" b="0" i="1" u="none">
                <a:solidFill>
                  <a:srgbClr val="1E293B"/>
                </a:solidFill>
                <a:latin typeface="Merriweather"/>
              </a:rPr>
              <a:t> Toda persona, por ser espiritual, es absolutamente digna. Y por ello, no puede ser tratada como un simple medio.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2687" y="4175819"/>
            <a:ext cx="72866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1" u="none">
                <a:solidFill>
                  <a:srgbClr val="64748B"/>
                </a:solidFill>
                <a:latin typeface="Inter SemiBold"/>
              </a:rPr>
              <a:t>— Dra. Luz García Alonso (Reflejando el Imperativo Categórico de Kant)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0175" y="4853880"/>
            <a:ext cx="93916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"Nadie debe ser tratado como instrumento, objeto de placer o de servicio, mercancía... usar a alguien para lograr un objetivo material o egoísta atenta contra su dignidad."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9675" y="2061269"/>
            <a:ext cx="635793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0" i="1" u="none">
                <a:solidFill>
                  <a:srgbClr val="BAE6FD"/>
                </a:solidFill>
                <a:latin typeface="serif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El Ser Humano como Fin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30710"/>
            <a:ext cx="5286375" cy="3295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997398"/>
            <a:ext cx="5286375" cy="2962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9750" y="1779389"/>
            <a:ext cx="85725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La dignidad es el valor inherente que todo ser humano merece por el hecho de ser persona. </a:t>
            </a:r>
            <a:r>
              <a:rPr sz="1650" b="1" i="0" u="none">
                <a:solidFill>
                  <a:srgbClr val="334155"/>
                </a:solidFill>
                <a:latin typeface="Inter"/>
              </a:rPr>
              <a:t>No varía ni se condiciona.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116460"/>
            <a:ext cx="49006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Merriweather"/>
              </a:rPr>
              <a:t>Lo que NO afecta la Dignidad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3283148"/>
            <a:ext cx="49006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Merriweather"/>
              </a:rPr>
              <a:t>El Fundamento Universal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3768923"/>
            <a:ext cx="4667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La persona es digna en cuanto tal, por lo que 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es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, no por lo que 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hace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4569023"/>
            <a:ext cx="4667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"Todos los seres humanos nacen libres e iguales en dignidad y derechos..." </a:t>
            </a:r>
            <a:r>
              <a:t>
</a:t>
            </a:r>
            <a:r>
              <a:rPr sz="1500" b="0" i="0" u="none">
                <a:solidFill>
                  <a:srgbClr val="64748B"/>
                </a:solidFill>
                <a:latin typeface="Inter"/>
              </a:rPr>
              <a:t>(Declaración Universal de Derechos Humanos, Art.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3602235"/>
            <a:ext cx="4381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Edad (Neonato vs. Anciano)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4049910"/>
            <a:ext cx="4381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Género (Hombre vs. Mujer)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4497585"/>
            <a:ext cx="4381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Estatus Económico (Pobre vs. Rico)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4945260"/>
            <a:ext cx="4381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Nivel Académico o Laboral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5392935"/>
            <a:ext cx="4381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Nacionalidad, Raza o Religión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3545085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3992760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4440435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4888110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" y="5335785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Igualdad en la Dignidad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900612"/>
            <a:ext cx="5286375" cy="99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El Valor Intrínseco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09675"/>
            <a:ext cx="5286375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014537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Merriweather"/>
              </a:rPr>
              <a:t>Más allá de lo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00312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El valor de la vida humana es superior a cualquier bien material o económico. No puede ser medido ni sustituido por dinero u objetos.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605212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El dinero domina la dimensión material, pero no proporciona amor verdadero, paz de conciencia o tranquilidad cotidiana.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091112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1" u="none">
                <a:solidFill>
                  <a:srgbClr val="0369A1"/>
                </a:solidFill>
                <a:latin typeface="Inter"/>
              </a:rPr>
              <a:t>"El verdadero valor radica en lo que somos, no en lo que poseemos."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2143125"/>
            <a:ext cx="36195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2357437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Merriweather"/>
              </a:rPr>
              <a:t>El error no anula la humanidad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843212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La dignidad humana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no se ve afectada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por el comportamiento moral de una persona. Quienes cometen errores graves siguen conservando su dignidad.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948112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Por esta razón, sistemas penitenciarios éticos promueven la 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reinserción social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, reconociendo la capacidad de redención.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5053012"/>
            <a:ext cx="5286375" cy="30480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369A1"/>
                </a:solidFill>
                <a:latin typeface="Inter SemiBold"/>
              </a:rPr>
              <a:t>Todos merecemos una segunda oportunidad.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137" y="2219325"/>
            <a:ext cx="3467100" cy="3467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5110162"/>
            <a:ext cx="2190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Dignidad Inalienable y Conducta Moral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62237"/>
            <a:ext cx="5286375" cy="3476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662237"/>
            <a:ext cx="5286375" cy="3476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66887"/>
            <a:ext cx="11049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 diferencia de la dignidad inherente (que es inmutable), la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dignidad moral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es dinámica y depende de nuestras elecciones.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52762"/>
            <a:ext cx="4730591" cy="34290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6A34A"/>
                </a:solidFill>
                <a:latin typeface="Merriweather"/>
              </a:rPr>
              <a:t>Aumenta con la Virtud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538537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Crece cuando el individuo elige conscientemente lo correcto, actuando con justicia, responsabilidad e integridad.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643437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Según Tomás de Aquino, la dignidad moral crece en la medida en que una persona actúa según la razón y promueve el bien común.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052762"/>
            <a:ext cx="4730591" cy="34290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C2626"/>
                </a:solidFill>
                <a:latin typeface="Merriweather"/>
              </a:rPr>
              <a:t>Disminuye con el Vicio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3538537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La indignidad moral surge cuando las acciones son contrarias a la virtud, injustas o egoístas.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4338637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Sacrificar principios éticos fundamentales a cambio de beneficios egoístas o económicos inmediatos degrada esta dignidad.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090862"/>
            <a:ext cx="3048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3090862"/>
            <a:ext cx="3048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¿Qué es la Dignidad Moral?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15554"/>
            <a:ext cx="5381625" cy="4274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815554"/>
            <a:ext cx="5381625" cy="42746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312" y="2148929"/>
            <a:ext cx="762000" cy="76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7106" y="3101429"/>
            <a:ext cx="3290411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Merriweather"/>
              </a:rPr>
              <a:t>Pérdida de Dignidad: </a:t>
            </a:r>
            <a:r>
              <a:t>
</a:t>
            </a:r>
            <a:r>
              <a:rPr sz="2100" b="1" i="0" u="none">
                <a:solidFill>
                  <a:srgbClr val="0369A1"/>
                </a:solidFill>
                <a:latin typeface="Merriweather"/>
              </a:rPr>
              <a:t> Caso Volkswagen (2015)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30104"/>
            <a:ext cx="4791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El "Dieselgate". La empresa manipuló software de emisiones para engañar a reguladores.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873079"/>
            <a:ext cx="47910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Una grave falta de ética que priorizó ganancias sobre la salud pública y el medio ambiente, degradando la dignidad moral corporativa.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687" y="2148929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54540" y="3101429"/>
            <a:ext cx="235029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Merriweather"/>
              </a:rPr>
              <a:t>Elevación Moral: </a:t>
            </a:r>
            <a:r>
              <a:t>
</a:t>
            </a:r>
            <a:r>
              <a:rPr sz="2100" b="1" i="0" u="none">
                <a:solidFill>
                  <a:srgbClr val="0369A1"/>
                </a:solidFill>
                <a:latin typeface="Merriweather"/>
              </a:rPr>
              <a:t> Malala Yousafzai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930104"/>
            <a:ext cx="4791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Lucha incesante por la educación de las niñas, enfrentando violencia y contextos adversos.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4873079"/>
            <a:ext cx="47910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Su valentía y compromiso con la verdad y la justicia han elevado enormemente su dignidad moral, inspirando a millones.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612" y="2315616"/>
            <a:ext cx="533400" cy="4286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2315616"/>
            <a:ext cx="485775" cy="4286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Ejemplos Reales de Dignidad Moral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571500"/>
            <a:ext cx="5550693" cy="1019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Responsabilidad Personal y Social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704975"/>
            <a:ext cx="5286375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452687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Merriweather"/>
              </a:rPr>
              <a:t>El compromiso con el Bien Común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38462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Ignorar la oportunidad de hacer el bien, cuando es posible, constituye una falta ética. La dignidad conlleva la obligación de luchar contra las injusticias.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043362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El Bien Común: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Es lo bueno para la comunidad; las condiciones que permiten el pleno desarrollo de todos.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843462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334155"/>
                </a:solidFill>
                <a:latin typeface="Inter"/>
              </a:rPr>
              <a:t>Ejemplo: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El voluntariado o los bomberos que arriesgan su vida, ejemplificando el amor altruista que se orienta al bien del otro.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28887"/>
            <a:ext cx="3492549" cy="3438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528887"/>
            <a:ext cx="3492549" cy="3438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528887"/>
            <a:ext cx="3492549" cy="3438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938337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Cualidades necesarias para formular juicios de valoración ética sobre una acción humana (según Aristóteles y Aquino).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700" y="2824162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2546" y="3776662"/>
            <a:ext cx="247030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Merriweather"/>
              </a:rPr>
              <a:t>Acción Voluntaria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262437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Debe ser una elección consciente. Actos realizados en plena libertad y con conocimiento de causa.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824162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55820" y="3776662"/>
            <a:ext cx="28803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Merriweather"/>
              </a:rPr>
              <a:t>Conforme a la Razón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4262437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La naturaleza humana es la medida; lo que se adecúa a ella (razón y ley natural) es bueno, lo contrario es malo.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3299" y="2824162"/>
            <a:ext cx="762000" cy="76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94214" y="3776662"/>
            <a:ext cx="136017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Merriweather"/>
              </a:rPr>
              <a:t>Propósito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374" y="4262437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Las acciones humanas se evalúan éticamente en función de su finalidad y de si promueven o no el bien común.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1962" y="2990850"/>
            <a:ext cx="371475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9300" y="2990850"/>
            <a:ext cx="533400" cy="4286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7599" y="2990850"/>
            <a:ext cx="533400" cy="4286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El Hecho Moral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2125116"/>
            <a:ext cx="11049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1" u="none">
                <a:solidFill>
                  <a:srgbClr val="334155"/>
                </a:solidFill>
                <a:latin typeface="Inter"/>
              </a:rPr>
              <a:t>"La capacidad de actuar de acuerdo con la propia voluntad, sin coacciones externas, por la cual elegimos un bien" (Gutiérrez, 2021).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237458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Autonomía: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Está intrínsecamente vinculada a la capacidad del individuo para gobernarse a sí mismo y tomar decisiones propias.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085183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Responsabilidad: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La libertad es el fundamento de la moralidad; al ser libres de elegir, somos inexcusablemente responsables de los efectos de esas elecciones.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932908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Condicionamiento Contextual: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La libertad no es absoluta en la práctica; depende del contexto social, económico y cultural en el que se ejerce.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180308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4028033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875758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251745"/>
            <a:ext cx="33337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4099470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4947195"/>
            <a:ext cx="304800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Concepto y Características de la Libertad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2081212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Factores que limitan la capacidad de elegir o merman la responsabilidad ética de una acción: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2671762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Presiones Sociales: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La conformidad con las expectativas del entorno. </a:t>
            </a:r>
            <a:r>
              <a:t>
</a:t>
            </a:r>
            <a:r>
              <a:rPr sz="1500" b="0" i="0" u="none">
                <a:solidFill>
                  <a:srgbClr val="64748B"/>
                </a:solidFill>
                <a:latin typeface="Inter"/>
              </a:rPr>
              <a:t>Ej. Elegir una carrera universitaria por imposición familiar y no por vocación.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519487"/>
            <a:ext cx="904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Falta de Información (Ignorancia):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Impide decisiones informadas; para elegir bien, hay que conocer las opciones. </a:t>
            </a:r>
            <a:r>
              <a:t>
</a:t>
            </a:r>
            <a:r>
              <a:rPr sz="1500" b="0" i="0" u="none">
                <a:solidFill>
                  <a:srgbClr val="64748B"/>
                </a:solidFill>
                <a:latin typeface="Inter"/>
              </a:rPr>
              <a:t>Ej. Votar sin conocer realmente las propuestas de los candidatos.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672012"/>
            <a:ext cx="904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Condiciones Económicas: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Las limitaciones financieras restringen el abanico de opciones disponibles. </a:t>
            </a:r>
            <a:r>
              <a:t>
</a:t>
            </a:r>
            <a:r>
              <a:rPr sz="1500" b="0" i="0" u="none">
                <a:solidFill>
                  <a:srgbClr val="64748B"/>
                </a:solidFill>
                <a:latin typeface="Inter"/>
              </a:rPr>
              <a:t>Ej. Desear estudiar una especialidad pero no poder costearla.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614612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62337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614862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686050"/>
            <a:ext cx="33337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533775"/>
            <a:ext cx="33337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4686300"/>
            <a:ext cx="266700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Obstáculos de la Libertad (Parte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9750" y="2257425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Autocensura y Miedo: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Perturbación emocional por amenaza que nubla el juicio. </a:t>
            </a:r>
            <a:r>
              <a:t>
</a:t>
            </a:r>
            <a:r>
              <a:rPr sz="1500" b="0" i="0" u="none">
                <a:solidFill>
                  <a:srgbClr val="64748B"/>
                </a:solidFill>
                <a:latin typeface="Inter"/>
              </a:rPr>
              <a:t>Ej. No proponer ideas innovadoras en el trabajo por temor al rechazo.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105150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Pasiones: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Inclinaciones desordenadas de los apetitos sensibles. </a:t>
            </a:r>
            <a:r>
              <a:t>
</a:t>
            </a:r>
            <a:r>
              <a:rPr sz="1500" b="0" i="0" u="none">
                <a:solidFill>
                  <a:srgbClr val="64748B"/>
                </a:solidFill>
                <a:latin typeface="Inter"/>
              </a:rPr>
              <a:t>Ej. Ceder ante el odio o los celos, perdiendo el control racional sobre uno mismo.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952875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Violencia: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Uso de fuerza física o psicológica que coacciona la voluntad. Anula la libertad de la víctima.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800600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Enfermedades Psicológicas: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Trastornos que alteran la percepción de la realidad o el control de impulsos.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200275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048000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3895725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4743450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271712"/>
            <a:ext cx="3048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119437"/>
            <a:ext cx="238125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967162"/>
            <a:ext cx="23812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814887"/>
            <a:ext cx="266700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Obstáculos de la Libertad (Parte 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524500" y="2527101"/>
            <a:ext cx="11430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95500" y="2850951"/>
            <a:ext cx="80010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0369A1"/>
                </a:solidFill>
                <a:latin typeface="Merriweather"/>
              </a:rPr>
              <a:t>Tipos de Actos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55826"/>
            <a:ext cx="7620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Clasificación fundamental para determinar el grado de responsabilidad y la valoración moral de nuestras acciones.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09762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Merriweather"/>
              </a:rPr>
              <a:t>Consciencia y Voluntad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95537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Son aquellos actos que proceden de la voluntad deliberada del hombre. El individuo actúa con pleno conocimiento y libre elección.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99" y="5027612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Ejemplos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Estudiar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 para un examen,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decir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 la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verdad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ayudar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 a un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compañero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500437"/>
            <a:ext cx="5000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El individuo es dueño y responsable de la acción.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48112"/>
            <a:ext cx="5000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Intervienen el entendimiento y la voluntad.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395787"/>
            <a:ext cx="5000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Son los únicos que pueden juzgarse como moralmente buenos o malos.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3443287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890962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338637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1. El Acto Humano (Voluntario)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09762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Merriweather"/>
              </a:rPr>
              <a:t>Procesos y Reflejos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95537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Carecen de consciencia o de libertad. Ocurren en el ser humano pero no son dirigidos por su razón ni su voluntad.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462" y="4994274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Ejemplos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: La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digestión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, la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respiración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, los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latidos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 del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corazón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retirar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 la mano ante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el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fuego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por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0" i="1" u="none" dirty="0" err="1">
                <a:solidFill>
                  <a:srgbClr val="334155"/>
                </a:solidFill>
                <a:latin typeface="Inter"/>
              </a:rPr>
              <a:t>reflejo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500437"/>
            <a:ext cx="5000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Pertenecen comúnmente al orden vegetativo o animal.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48112"/>
            <a:ext cx="5000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No hay dominio sobre ellos.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395787"/>
            <a:ext cx="5000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Son amorales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(no pueden ser juzgados ética o moralmente).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3443287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890962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338637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2. El Acto del Hombre (Involuntario)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75532"/>
            <a:ext cx="5286375" cy="415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75532"/>
            <a:ext cx="5286375" cy="41546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266057"/>
            <a:ext cx="4730591" cy="34290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A580C"/>
                </a:solidFill>
                <a:latin typeface="Merriweather"/>
              </a:rPr>
              <a:t>Actos Contravoluntarios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751832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Se realizan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en contra de la voluntad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de la persona, generalmente forzados por una causa externa (violencia, coacción grave).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856732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Al estar anulada la libertad, la responsabilidad moral del acto recae en quien ejerce la coacción, no en la víctima.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961632"/>
            <a:ext cx="45053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1" u="none">
                <a:solidFill>
                  <a:srgbClr val="64748B"/>
                </a:solidFill>
                <a:latin typeface="Inter"/>
              </a:rPr>
              <a:t>Ejemplo: Entregar pertenencias durante un asalto a mano armada.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266057"/>
            <a:ext cx="4730591" cy="342900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64748B"/>
                </a:solidFill>
                <a:latin typeface="Merriweather"/>
              </a:rPr>
              <a:t>Actos Indiferentes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751832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Son acciones cuyo objeto, por su propia naturaleza,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no es ni bueno ni malo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desde el punto de vista moral.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856732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Adquieren valor moral únicamente por la intención de quien los realiza (el "fin") o por las circunstancias.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4961632"/>
            <a:ext cx="45053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1" u="none">
                <a:solidFill>
                  <a:srgbClr val="64748B"/>
                </a:solidFill>
                <a:latin typeface="Inter"/>
              </a:rPr>
              <a:t>Ejemplo: Caminar (indiferente). Caminar para ir a donar sangre (bueno). Caminar para espiar a alguien (malo).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304157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304157"/>
            <a:ext cx="23812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Otras Clasificaciones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71500" y="1922264"/>
            <a:ext cx="11049000" cy="406122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922264"/>
          <a:ext cx="11049000" cy="4061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244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Tipo de Acto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¿Usa Razón?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¿Hay Libertad?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Responsabilidad Moral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24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Acto Humano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(Ej. Robar, Ayudar)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Plena. El sujeto es juzgado moralmente.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24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Acto del Hombre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(Ej. Digestión, Sueño)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Ninguna. Es un acto biológico amoral.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24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Contravoluntario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(Ej. Actuar bajo amenaza)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Sí (Pero coaccionada)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Nula o mitigada para la víctima.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24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Indiferente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(Ej. Sentarse, Leer)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Depende de la intención y circunstancias.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527101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33750" y="2527101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43550" y="2527101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53350" y="2527101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39000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3750" y="339000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43550" y="339000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53350" y="339000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25291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750" y="4252912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43550" y="4252912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53350" y="4252912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11581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3750" y="511581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43550" y="511581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53350" y="511581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Resumen de Clasificación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2353716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Evento Base: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Una persona cae por las escaleras y lastima a alguien más.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849016"/>
            <a:ext cx="11049000" cy="319831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849016"/>
          <a:ext cx="11048999" cy="3198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3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9579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Contexto del Evento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Tipo de Acto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Valoración Ética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57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La persona sufrió un </a:t>
                      </a:r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desmayo repentino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 y cayó.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Acto del Hombre 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(Involuntario)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Amoral. Sin responsabilidad ética, ocurrió fuera de su control.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57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Alguien </a:t>
                      </a:r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empujó violentamente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 a la persona por las escaleras.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Acto Contravoluntario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Sin responsabilidad para el que cae. La culpa recae en quien empujó.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57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La persona decidió </a:t>
                      </a:r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lanzarse intencionalmente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 para golpear a la persona de abajo.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Acto Humano 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(Voluntario)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Inmoral. Existe plena responsabilidad ética por causar daño conscientemente.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3453854"/>
            <a:ext cx="45931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64633" y="3453854"/>
            <a:ext cx="2031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96583" y="3453854"/>
            <a:ext cx="4423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4316759"/>
            <a:ext cx="45931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164633" y="4316759"/>
            <a:ext cx="2031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96583" y="4316759"/>
            <a:ext cx="4423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5179665"/>
            <a:ext cx="45931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64633" y="5179665"/>
            <a:ext cx="2031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96583" y="5179665"/>
            <a:ext cx="4423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1019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Análisis Práctico: Un mismo evento, distintas valoraciones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7049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28887"/>
            <a:ext cx="3492549" cy="3438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528887"/>
            <a:ext cx="3492549" cy="3438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528887"/>
            <a:ext cx="3492549" cy="3438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938337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Pilares que guían el comportamiento humano, derivados del uso de la inteligencia y la libertad.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700" y="2824162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7512" y="3776662"/>
            <a:ext cx="3000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Merriweather"/>
              </a:rPr>
              <a:t>Respeto a la Dignidad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262437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Reconocer el valor intrínseco de cada persona, tratándola como un fin y garantizando sus derechos fundamentales.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824162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80935" y="3776662"/>
            <a:ext cx="103012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Merriweather"/>
              </a:rPr>
              <a:t>Justicia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4262437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Dar a cada quien lo que le corresponde, promoviendo la equidad, la imparcialidad y el bien común en la sociedad.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3299" y="2824162"/>
            <a:ext cx="762000" cy="76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24155" y="3776662"/>
            <a:ext cx="23002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Merriweather"/>
              </a:rPr>
              <a:t>Responsabilidad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374" y="4262437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Asumir las consecuencias de nuestras elecciones libres y responder éticamente ante nosotros mismos y los demás.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387" y="2990850"/>
            <a:ext cx="428625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1687" y="2990850"/>
            <a:ext cx="428625" cy="4286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2374" y="2990850"/>
            <a:ext cx="323850" cy="4286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Principios Éticos Universales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5275" y="2286892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0369A1"/>
                </a:solidFill>
                <a:latin typeface="Merriweather"/>
              </a:rPr>
              <a:t>¿Preguntas o Comentarios?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39417"/>
            <a:ext cx="110490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334155"/>
                </a:solidFill>
                <a:latin typeface="Inter"/>
              </a:rPr>
              <a:t>Gracias por su atención.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342358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Materia: Ética Profesional | Tema: Actos Humanos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1500" y="1207144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991915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297477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957637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940498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1149994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9823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19823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1934765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9652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29652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" y="2917626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948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3948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3900487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9309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9309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883348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59138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59138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" y="5866209"/>
            <a:ext cx="161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0369A1"/>
                </a:solidFill>
                <a:latin typeface="Inter"/>
              </a:rPr>
              <a:t>•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356568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52625" y="1350019"/>
            <a:ext cx="96678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https://images.stockcake.com/public/e/8/a/e8a48dbf-1662-4ab5-b4ed-ad6d2ec77034_medium/spiritual-warriors-clash-stockcake.jpg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2625" y="1595735"/>
            <a:ext cx="96678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240458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52625" y="2134790"/>
            <a:ext cx="96678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https://media.istockphoto.com/id/2190815709/vector/woman-with-mood-scales-young-girl-with-good-and-bad-mood-emotions-and-feelings-inner-peace.jpg?s=612x612&amp;w=0&amp;k=20&amp;c=1VFmTPQQzmc80iYdCPyYxh7mQWWZR-DxD3_tk3hVbjA=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2625" y="2578596"/>
            <a:ext cx="96678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223319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52625" y="3117651"/>
            <a:ext cx="96678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https://online.visual-paradigm.com/servlet/editor-content/document-editor/templates/send-a-second-chance-reminder-letter/sites/7/2023/04/Send-a-second-chancereminder-letter-1.jpg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2625" y="3561457"/>
            <a:ext cx="96678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online.visual-paradigm.com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206180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952625" y="4100512"/>
            <a:ext cx="96678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https://media.kens5.com/assets/KENS/images/de63f4d1-59b3-4e11-890b-bccba7710c6e/20260704T032353/de63f4d1-59b3-4e11-890b-bccba7710c6e_1920x1080.jpg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2625" y="4544317"/>
            <a:ext cx="96678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www.kens5.com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5189041"/>
            <a:ext cx="857250" cy="4762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952625" y="5083373"/>
            <a:ext cx="96678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https://static.wixstatic.com/media/861526_7995ed81eb21458e876fbb1121ce3e63~mv2.jpg/v1/fill/w_568,h_324,al_c,q_80,usm_0.66_1.00_0.01,enc_avif,quality_auto/861526_7995ed81eb21458e876fbb1121ce3e63~mv2.jpg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2625" y="5527178"/>
            <a:ext cx="96678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www.drpaulmccarthy.com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6072782"/>
            <a:ext cx="857250" cy="4762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952625" y="6066234"/>
            <a:ext cx="96678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https://helios-i.mashable.com/imagery/roundups/01mtt5K1NAhb11M67rjRZQw/hero-image.fill.size_1248x702.v1746469624.jpg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2625" y="6311949"/>
            <a:ext cx="96678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mashable.com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159394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Merriweather"/>
              </a:rPr>
              <a:t>Image Sources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" y="797569"/>
            <a:ext cx="11049000" cy="28575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TM04033927[[fn=Evento principal]]</Template>
  <TotalTime>5</TotalTime>
  <Words>2082</Words>
  <Application>Microsoft Office PowerPoint</Application>
  <PresentationFormat>Panorámica</PresentationFormat>
  <Paragraphs>202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Impact</vt:lpstr>
      <vt:lpstr>Inter</vt:lpstr>
      <vt:lpstr>Inter Medium</vt:lpstr>
      <vt:lpstr>Inter SemiBold</vt:lpstr>
      <vt:lpstr>Merriweather</vt:lpstr>
      <vt:lpstr>serif</vt:lpstr>
      <vt:lpstr>Evento principal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Hotel Real Rex</cp:lastModifiedBy>
  <cp:revision>1</cp:revision>
  <dcterms:created xsi:type="dcterms:W3CDTF">2013-01-27T09:14:16Z</dcterms:created>
  <dcterms:modified xsi:type="dcterms:W3CDTF">2026-09-08T04:20:32Z</dcterms:modified>
  <cp:category/>
</cp:coreProperties>
</file>